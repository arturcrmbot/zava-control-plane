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87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ED4BD0B-DD72-469E-A68A-1BEB1273932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Appendix - Wireframes" id="{3ACC7C26-0C6B-4872-A67B-53DA4A0952A2}">
          <p14:sldIdLst>
            <p14:sldId id="287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5F8A9A-9911-4CD6-BAB8-1DA5980E9B01}" v="43" dt="2026-05-05T15:59:54.290"/>
    <p1510:client id="{5147F1B8-9516-4F83-8835-666C029DBF48}" v="5" dt="2026-05-05T15:58:28.7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370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4ACF7A-2217-3C0B-017C-5EE83D53D84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F29">
              <a:alpha val="45000"/>
            </a:srgbClr>
          </a:solidFill>
          <a:ln w="12700">
            <a:solidFill>
              <a:srgbClr val="060F2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STORYBOARD  |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live client briefing</a:t>
            </a:r>
            <a:endParaRPr lang="en-US" sz="4000"/>
          </a:p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AI-generated campaign video.</a:t>
            </a:r>
            <a:endParaRPr lang="en-US" sz="400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AI Control Plane. Many agents. Human judgement only where it counts.</a:t>
            </a:r>
            <a:endParaRPr lang="en-US" sz="180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965960" cy="868680"/>
          </a:xfrm>
          <a:prstGeom prst="rect">
            <a:avLst/>
          </a:prstGeom>
          <a:solidFill>
            <a:srgbClr val="060F29"/>
          </a:solidFill>
          <a:ln w="12700">
            <a:solidFill>
              <a:srgbClr val="00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85800" y="3886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685800" y="43251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creative stages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2651760" y="3794760"/>
            <a:ext cx="1965960" cy="868680"/>
          </a:xfrm>
          <a:prstGeom prst="rect">
            <a:avLst/>
          </a:prstGeom>
          <a:solidFill>
            <a:srgbClr val="060F29"/>
          </a:solidFill>
          <a:ln w="12700">
            <a:solidFill>
              <a:srgbClr val="00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788920" y="3886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20+</a:t>
            </a:r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2788920" y="43251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specialist agents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754880" y="3794760"/>
            <a:ext cx="1965960" cy="868680"/>
          </a:xfrm>
          <a:prstGeom prst="rect">
            <a:avLst/>
          </a:prstGeom>
          <a:solidFill>
            <a:srgbClr val="060F29"/>
          </a:solidFill>
          <a:ln w="12700">
            <a:solidFill>
              <a:srgbClr val="00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892040" y="3886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4892040" y="43251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checkpoints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6858000" y="3794760"/>
            <a:ext cx="1965960" cy="868680"/>
          </a:xfrm>
          <a:prstGeom prst="rect">
            <a:avLst/>
          </a:prstGeom>
          <a:solidFill>
            <a:srgbClr val="060F29"/>
          </a:solidFill>
          <a:ln w="12700">
            <a:solidFill>
              <a:srgbClr val="00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995160" y="3886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100s</a:t>
            </a:r>
            <a:endParaRPr lang="en-US" sz="2800"/>
          </a:p>
        </p:txBody>
      </p:sp>
      <p:sp>
        <p:nvSpPr>
          <p:cNvPr id="18" name="Text 16"/>
          <p:cNvSpPr/>
          <p:nvPr/>
        </p:nvSpPr>
        <p:spPr>
          <a:xfrm>
            <a:off x="6995160" y="43251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workflows, one supervisor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54864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for: James MacGregor — Sr Dir Industry Advisory IBB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070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big idea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DEMO WORKS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8412480" cy="10058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73152" cy="1005840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"From live client briefing to AI-generated campaign video —</a:t>
            </a:r>
            <a:endParaRPr lang="en-US" sz="2000"/>
          </a:p>
          <a:p>
            <a:pPr marL="0" indent="0">
              <a:buNone/>
            </a:pPr>
            <a:r>
              <a:rPr lang="en-US" sz="2000" b="1" i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a control plane supervising the entire creative workflow."</a:t>
            </a:r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365760" y="310896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2697480" cy="73152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32735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front door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+ strategist + creative lead meet in Teams. AI joins the briefing as a facilitator.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3172968" y="310896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172968" y="3108960"/>
            <a:ext cx="2697480" cy="73152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355848" y="32735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3355848" y="3566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High-value workflow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3355848" y="3977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 → audience → concepts → script/storyboard → video. Agents at every stage.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5980176" y="310896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980176" y="3108960"/>
            <a:ext cx="2697480" cy="73152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163056" y="32735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6163056" y="3566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control plane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6163056" y="3977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Policy, approvals, model choice, escalation, observability, HITL — all governed centrally.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365760" y="48508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Agency Demo  |  </a:t>
            </a:r>
            <a:r>
              <a:rPr lang="en-US" sz="900" i="1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live brief to campaign video under one control plane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7315200" y="48508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16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F29">
              <a:alpha val="45000"/>
            </a:srgbClr>
          </a:solidFill>
          <a:ln w="12700">
            <a:solidFill>
              <a:srgbClr val="060F2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 MOMENT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Control Plane — at massive scale.</a:t>
            </a:r>
            <a:endParaRPr lang="en-US" sz="2600"/>
          </a:p>
        </p:txBody>
      </p:sp>
      <p:pic>
        <p:nvPicPr>
          <p:cNvPr id="5" name="Image 0" descr="/mnt/workspace/output/01-control-plane-at-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6217920" cy="34975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75120" y="1188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audience sees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>
          <a:xfrm>
            <a:off x="6675120" y="1554480"/>
            <a:ext cx="2240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Hundreds of workflows running concurrently — one supervisor's view.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status, confidence, model mix, latency, HITL queue, exception count.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Drill into any single workflow for stage, agents, artefacts, lineage.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Route, approve, revise, reroute model, raise/lower autonomy — one click.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Talking point:  </a:t>
            </a:r>
            <a:r>
              <a:rPr lang="en-US" sz="1000" i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"Not one agent. A governed creative operating system."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Nine stages. Four human checkpoints.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Human-led, agent-assisted — autonomy everywhere else.</a:t>
            </a:r>
            <a:endParaRPr lang="en-US" sz="1200"/>
          </a:p>
        </p:txBody>
      </p:sp>
      <p:pic>
        <p:nvPicPr>
          <p:cNvPr id="4" name="Image 0" descr="/mnt/workspace/output/03-stage-flow-hi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859536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checkpoints:  </a:t>
            </a:r>
            <a:r>
              <a:rPr lang="en-US" sz="11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 sign-off · Concept selection · Storyboard approval · Exception / release</a:t>
            </a:r>
            <a:endParaRPr lang="en-US" sz="1100"/>
          </a:p>
        </p:txBody>
      </p:sp>
      <p:sp>
        <p:nvSpPr>
          <p:cNvPr id="6" name="Text 3"/>
          <p:cNvSpPr/>
          <p:nvPr/>
        </p:nvSpPr>
        <p:spPr>
          <a:xfrm>
            <a:off x="365760" y="48508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Agency Demo  |  </a:t>
            </a:r>
            <a:r>
              <a:rPr lang="en-US" sz="900" i="1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live brief to campaign video under one control plane</a:t>
            </a:r>
            <a:endParaRPr lang="en-US" sz="900"/>
          </a:p>
        </p:txBody>
      </p:sp>
      <p:sp>
        <p:nvSpPr>
          <p:cNvPr id="7" name="Text 4"/>
          <p:cNvSpPr/>
          <p:nvPr/>
        </p:nvSpPr>
        <p:spPr>
          <a:xfrm>
            <a:off x="7315200" y="48508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16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PLANE  </a:t>
            </a: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registered  |  autonomy = LOW  |  policy pack = Agency-standard  |  HITL gate armed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2468880" cy="47548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640080"/>
            <a:ext cx="73152" cy="475488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6400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01  </a:t>
            </a:r>
            <a:r>
              <a:rPr lang="en-US" sz="1100" b="1" kern="0" spc="2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BRIEF CAPTURE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live creative briefing.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meeting — client brand manager, agency strategist, creative lead. Briefing Agent joins as facilitator.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5029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64008" cy="2423160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621792" y="2743200"/>
            <a:ext cx="4663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Briefing Agent listens, prompts for missing details, structures the conversation into Agency's brief format.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Client: "We need a short video campaign for a new sustainable product launch targeted at Gen Z and young families in the UK."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interjects: primary objective? awareness vs conversion? brand guidelines? markets, formats, approval constraints?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grounded in agency's briefing standard — not a black-box autonomous system.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532120" y="2286000"/>
            <a:ext cx="3246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532120" y="2286000"/>
            <a:ext cx="64008" cy="10515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733288" y="239572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MOMENT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5733288" y="267004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the agent ask smart questions in the meeting — AI in the flow of work, not a side tool.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5532120" y="3401568"/>
            <a:ext cx="3246120" cy="8686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532120" y="3401568"/>
            <a:ext cx="64008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733288" y="352958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HITL STEP  </a:t>
            </a: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Strategist confirms objective, audience priority, and success metric before the brief is finalized.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5532120" y="4343400"/>
            <a:ext cx="3246120" cy="502920"/>
          </a:xfrm>
          <a:prstGeom prst="rect">
            <a:avLst/>
          </a:prstGeom>
          <a:solidFill>
            <a:srgbClr val="00D4D8">
              <a:alpha val="20000"/>
            </a:srgbClr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669280" y="4389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  </a:t>
            </a:r>
            <a:r>
              <a:rPr lang="en-US" sz="95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ID minted, client policy pack attached, meeting transcript captured for lineage.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365760" y="48508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Agency Demo  |  </a:t>
            </a:r>
            <a:r>
              <a:rPr lang="en-US" sz="900" i="1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live brief to campaign video under one control plane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7315200" y="48508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16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PLANE  </a:t>
            </a: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Status: brief ready for validation  |  confidence 0.91  |  missing fields flagged  |  reviewer assigned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2468880" cy="47548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640080"/>
            <a:ext cx="73152" cy="475488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6400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02  </a:t>
            </a:r>
            <a:r>
              <a:rPr lang="en-US" sz="1100" b="1" kern="0" spc="2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 STRUCTURING &amp; APPROVAL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 synthesis and approval gate.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Post-meeting. Briefing Agent turns the conversation into a structured artefact in Word.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5029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64008" cy="2423160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621792" y="2743200"/>
            <a:ext cx="4663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brief: objective, audience summary, mandatory messages, channel constraints, first-pass delivery plan.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plane shows workflow ID, client/brand, status "Brief ready for validation", confidence, missing fields, assigned reviewer.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formal approval gate — human oversight is deliberate, not everywhere.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audit trail: what the client said → what the agent produced → what the CD approved.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532120" y="2286000"/>
            <a:ext cx="3246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532120" y="2286000"/>
            <a:ext cx="64008" cy="10515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733288" y="239572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MOMENT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5733288" y="267004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the Word brief next to the control plane card for this workflow — synced in real time.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5532120" y="3401568"/>
            <a:ext cx="3246120" cy="8686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532120" y="3401568"/>
            <a:ext cx="64008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733288" y="352958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HITL STEP  </a:t>
            </a: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Creative Director approves or edits the brief before downstream generation begins.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5532120" y="4343400"/>
            <a:ext cx="3246120" cy="502920"/>
          </a:xfrm>
          <a:prstGeom prst="rect">
            <a:avLst/>
          </a:prstGeom>
          <a:solidFill>
            <a:srgbClr val="00D4D8">
              <a:alpha val="20000"/>
            </a:srgbClr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669280" y="4389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  </a:t>
            </a:r>
            <a:r>
              <a:rPr lang="en-US" sz="95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 1 of 4. Gate blocks Stage 3 until CD sign-off. All edits logged.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365760" y="48508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Agency Demo  |  </a:t>
            </a:r>
            <a:r>
              <a:rPr lang="en-US" sz="900" i="1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live brief to campaign video under one control plane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7315200" y="48508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PLANE  </a:t>
            </a: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agents in flight  |  fan-out in parallel  |  model mix visible  |  no HITL gate on this stage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2468880" cy="47548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640080"/>
            <a:ext cx="73152" cy="475488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6400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03  </a:t>
            </a:r>
            <a:r>
              <a:rPr lang="en-US" sz="1100" b="1" kern="0" spc="2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&amp; AUDIENCE ENRICHMENT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and audience enrichment.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approved, a set of research and planning agents kick in — in parallel, under supervision.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5029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64008" cy="2423160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621792" y="2743200"/>
            <a:ext cx="4663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 Agent builds audience clusters and personas.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 / Research Agent pulls market, category, and cultural signals.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Brand Knowledge Agent retrieves past campaign learnings and brand guardrails.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Planning Agent recommends initial video format assumptions.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532120" y="2286000"/>
            <a:ext cx="3246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532120" y="2286000"/>
            <a:ext cx="64008" cy="10515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733288" y="239572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MOMENT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5733288" y="267004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plane comes alive — many agents running together, each with status, latency, model, and output readiness.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5532120" y="3401568"/>
            <a:ext cx="3246120" cy="8686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532120" y="3401568"/>
            <a:ext cx="64008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733288" y="352958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HITL STEP  </a:t>
            </a: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Planner / Strategist chooses one of three audience directions and confirms the strategic tension to resolve.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5532120" y="4343400"/>
            <a:ext cx="3246120" cy="502920"/>
          </a:xfrm>
          <a:prstGeom prst="rect">
            <a:avLst/>
          </a:prstGeom>
          <a:solidFill>
            <a:srgbClr val="00D4D8">
              <a:alpha val="20000"/>
            </a:srgbClr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669280" y="4389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  </a:t>
            </a:r>
            <a:r>
              <a:rPr lang="en-US" sz="95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Supervisor sees where work is blocked, where confidence is low, and can rebalance models on the fly.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365760" y="48508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Agency Demo  |  </a:t>
            </a:r>
            <a:r>
              <a:rPr lang="en-US" sz="900" i="1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live brief to campaign video under one control plane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7315200" y="48508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16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PLANE  </a:t>
            </a: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Territories: 3  |  brand safety check: PASS  |  distinctiveness check: PASS  |  HITL gate armed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2468880" cy="47548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640080"/>
            <a:ext cx="73152" cy="475488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6400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04  </a:t>
            </a:r>
            <a:r>
              <a:rPr lang="en-US" sz="1100" b="1" kern="0" spc="2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CREATIVE TERRITORY EXPLORATION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Creative territory generation.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workflow fans out into exploration. Agents propose — humans decide.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5029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64008" cy="2423160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621792" y="2743200"/>
            <a:ext cx="4663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 Agent generates 3–5 campaign territories.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Agent drafts taglines and key messages.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Moodboard Agent produces visual style directions.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Brand Safety and Competitive Distinctiveness agents screen early.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532120" y="2286000"/>
            <a:ext cx="3246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532120" y="2286000"/>
            <a:ext cx="64008" cy="10515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733288" y="239572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MOMENT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5733288" y="267004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3 distinct routes side by side: Emotional/cinematic  ·  Social-first/creator  ·  Product-led/high-energy.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5532120" y="3401568"/>
            <a:ext cx="3246120" cy="8686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532120" y="3401568"/>
            <a:ext cx="64008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733288" y="352958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HITL STEP  </a:t>
            </a: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Creative Director and client pick the winning route — AI amplifies taste, doesn't replace it.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5532120" y="4343400"/>
            <a:ext cx="3246120" cy="502920"/>
          </a:xfrm>
          <a:prstGeom prst="rect">
            <a:avLst/>
          </a:prstGeom>
          <a:solidFill>
            <a:srgbClr val="00D4D8">
              <a:alpha val="20000"/>
            </a:srgbClr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669280" y="4389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  </a:t>
            </a:r>
            <a:r>
              <a:rPr lang="en-US" sz="95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 2 of 4. Non-chosen concepts preserved for reuse and learning loop.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365760" y="48508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Agency Demo  |  </a:t>
            </a:r>
            <a:r>
              <a:rPr lang="en-US" sz="900" i="1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live brief to campaign video under one control plane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7315200" y="48508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16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PLANE  </a:t>
            </a: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pack enforced  |  model registry: script=GPT-5, viz=Sora-2  |  rights agent active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2468880" cy="47548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640080"/>
            <a:ext cx="73152" cy="475488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6400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05  </a:t>
            </a:r>
            <a:r>
              <a:rPr lang="en-US" sz="1100" b="1" kern="0" spc="2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 &amp; STORYBOARD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Script, storyboard, and shot plan.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chosen route becomes a production-ready package of script, scenes, shot prompts, and localisations.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5029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64008" cy="2423160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621792" y="2743200"/>
            <a:ext cx="4663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 Agent writes a 30-second script.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Storyboard Agent converts it into scenes.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Shot Planner Agent creates prompts for video generation.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Localization Agent prepares regional variants. Rights &amp; Compliance Agent checks policy constraints.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532120" y="2286000"/>
            <a:ext cx="3246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532120" y="2286000"/>
            <a:ext cx="64008" cy="10515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733288" y="239572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MOMENT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5733288" y="267004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plane shows which model produced each asset and whether client-specific policy rules are satisfied.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5532120" y="3401568"/>
            <a:ext cx="3246120" cy="8686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532120" y="3401568"/>
            <a:ext cx="64008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733288" y="352958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HITL STEP  </a:t>
            </a: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Producer or creative lead approves the storyboard before "expensive" generation begins.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5532120" y="4343400"/>
            <a:ext cx="3246120" cy="502920"/>
          </a:xfrm>
          <a:prstGeom prst="rect">
            <a:avLst/>
          </a:prstGeom>
          <a:solidFill>
            <a:srgbClr val="00D4D8">
              <a:alpha val="20000"/>
            </a:srgbClr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669280" y="4389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  </a:t>
            </a:r>
            <a:r>
              <a:rPr lang="en-US" sz="95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 3 of 4. Model choice is centrally governed — approved models only, by client and use case.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365760" y="48508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Agency Demo  |  </a:t>
            </a:r>
            <a:r>
              <a:rPr lang="en-US" sz="900" i="1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live brief to campaign video under one control plane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7315200" y="48508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16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PLANE  </a:t>
            </a: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Long-running job  |  cost budget: £X  |  content safety gate armed  |  autonomy = MEDIUM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2468880" cy="47548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640080"/>
            <a:ext cx="73152" cy="475488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6400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06  </a:t>
            </a:r>
            <a:r>
              <a:rPr lang="en-US" sz="1100" b="1" kern="0" spc="2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GENERATION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video generation — the whizzy part.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fleet of agents assembles the first cut under policy and safety guardrails.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5029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64008" cy="2423160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621792" y="2743200"/>
            <a:ext cx="4663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Generation Agent creates the first cut.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/ Audio Agent adds narration or soundtrack options.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Localization Agent adapts subtitle and copy variations.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Agent checks pacing, framing, format fit. Content Safety Agent screens output before release.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532120" y="2286000"/>
            <a:ext cx="3246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532120" y="2286000"/>
            <a:ext cx="64008" cy="10515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733288" y="239572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MOMENT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5733288" y="267004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screen: storyboard on the left, rendered draft video on the right, control plane behind — agents orchestrating.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5532120" y="3401568"/>
            <a:ext cx="3246120" cy="8686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532120" y="3401568"/>
            <a:ext cx="64008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733288" y="352958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HITL STEP  </a:t>
            </a: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gate here by default — supervision handles it. Exceptions escalate to the next stage.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5532120" y="4343400"/>
            <a:ext cx="3246120" cy="502920"/>
          </a:xfrm>
          <a:prstGeom prst="rect">
            <a:avLst/>
          </a:prstGeom>
          <a:solidFill>
            <a:srgbClr val="00D4D8">
              <a:alpha val="20000"/>
            </a:srgbClr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669280" y="4389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  </a:t>
            </a:r>
            <a:r>
              <a:rPr lang="en-US" sz="95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burn, render time, model lineage, and provenance metadata are captured for every frame.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365760" y="48508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Agency Demo  |  </a:t>
            </a:r>
            <a:r>
              <a:rPr lang="en-US" sz="900" i="1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live brief to campaign video under one control plane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7315200" y="48508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16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PLANE  </a:t>
            </a: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exceptions surfaced  |  routing queue engaged  |  1 supervisor, 342 workflows live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2468880" cy="47548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640080"/>
            <a:ext cx="73152" cy="475488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6400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07  </a:t>
            </a:r>
            <a:r>
              <a:rPr lang="en-US" sz="1100" b="1" kern="0" spc="2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 HANDLING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 handling — the control plane becomes the hero.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 show a flawless path. Deliberately surface 2–3 exceptions and let the control plane resolve them.</a:t>
            </a:r>
            <a:endParaRPr lang="en-US" sz="1300"/>
          </a:p>
        </p:txBody>
      </p:sp>
      <p:pic>
        <p:nvPicPr>
          <p:cNvPr id="10" name="Image 0" descr="/mnt/workspace/output/04-exception-hand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240280"/>
            <a:ext cx="6309360" cy="2468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720840" y="2240280"/>
            <a:ext cx="2103120" cy="24688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90372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HITL CHOICES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>
          <a:xfrm>
            <a:off x="6949440" y="269748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as-is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Revise &amp; re-run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Reroute to another model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/ raise autonomy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 back a stage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Escalate to Creative Director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 4 of 4.  </a:t>
            </a:r>
            <a:r>
              <a:rPr lang="en-US" sz="1000" i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person supervises many flows — HITL only where judgement, policy, or risk demands it.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PLANE  </a:t>
            </a: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closed  |  artefacts packaged  |  audit trail signed  |  added to learning corpus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2468880" cy="47548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640080"/>
            <a:ext cx="73152" cy="475488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6400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08  </a:t>
            </a:r>
            <a:r>
              <a:rPr lang="en-US" sz="1100" b="1" kern="0" spc="2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PUBLISH, AUDIT, LEARN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output and the learning loop.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approved video is packaged with full provenance — and the workflow becomes reusable.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5029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64008" cy="2423160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621792" y="2743200"/>
            <a:ext cx="4663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Package: campaign brief, final script, storyboard, output variants, provenance metadata, audit trail.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assumptions captured; chosen creative path logged for reuse on next brief.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Closes the loop: next time, the system starts smarter.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Deliverable is not just an asset — it's a governed, observable, reusable production run.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532120" y="2286000"/>
            <a:ext cx="3246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532120" y="2286000"/>
            <a:ext cx="64008" cy="10515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733288" y="239572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MOMENT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5733288" y="267004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Zoom out: "This is not one AI-generated asset. This is a governed creative production system."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5532120" y="3401568"/>
            <a:ext cx="3246120" cy="8686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532120" y="3401568"/>
            <a:ext cx="64008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733288" y="352958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HITL STEP  </a:t>
            </a: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 approval already handled in Stage 7. This stage is autonomous.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5532120" y="4343400"/>
            <a:ext cx="3246120" cy="502920"/>
          </a:xfrm>
          <a:prstGeom prst="rect">
            <a:avLst/>
          </a:prstGeom>
          <a:solidFill>
            <a:srgbClr val="00D4D8">
              <a:alpha val="20000"/>
            </a:srgbClr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669280" y="4389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  </a:t>
            </a:r>
            <a:r>
              <a:rPr lang="en-US" sz="95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artefact carries lineage back to the brief, the model, the human who approved it.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365760" y="48508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Agency Demo  |  </a:t>
            </a:r>
            <a:r>
              <a:rPr lang="en-US" sz="900" i="1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live brief to campaign video under one control plane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7315200" y="48508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16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F29">
              <a:alpha val="45000"/>
            </a:srgbClr>
          </a:solidFill>
          <a:ln w="12700">
            <a:solidFill>
              <a:srgbClr val="060F2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VIEW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agents. One governed workflow.</a:t>
            </a:r>
            <a:endParaRPr lang="en-US" sz="2600"/>
          </a:p>
        </p:txBody>
      </p:sp>
      <p:pic>
        <p:nvPicPr>
          <p:cNvPr id="5" name="Image 0" descr="/mnt/workspace/output/02-agent-orche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188720"/>
            <a:ext cx="886968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Talking point:  </a:t>
            </a:r>
            <a:r>
              <a:rPr lang="en-US" sz="1000" i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"The control plane is the layer across the top — policy, models, observability, approvals, routing, audit."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070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four human checkpoints.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365760" y="1719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Human-led, agent-assisted. Discipline over gimmick.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365760" y="2194560"/>
            <a:ext cx="207568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2075688" cy="91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 sign-off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validates objectives, audience, and constraints before any agent spends budget.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2532888" y="2194560"/>
            <a:ext cx="207568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532888" y="2194560"/>
            <a:ext cx="2075688" cy="91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15768" y="2468880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715768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2715768" y="310896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 selection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2715768" y="3611880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picks the winning creative route from 3 generated territories.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700016" y="2194560"/>
            <a:ext cx="207568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700016" y="2194560"/>
            <a:ext cx="2075688" cy="91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882896" y="2468880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882896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4882896" y="310896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Storyboard approval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4882896" y="3611880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confirms narrative and production direction before expensive video generation.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6867144" y="2194560"/>
            <a:ext cx="207568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867144" y="2194560"/>
            <a:ext cx="2075688" cy="91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050024" y="2468880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7050024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/>
          </a:p>
        </p:txBody>
      </p:sp>
      <p:sp>
        <p:nvSpPr>
          <p:cNvPr id="26" name="Text 24"/>
          <p:cNvSpPr/>
          <p:nvPr/>
        </p:nvSpPr>
        <p:spPr>
          <a:xfrm>
            <a:off x="7050024" y="310896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 / release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7050024" y="3611880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resolves policy, compliance, or quality issues surfaced by the control plane.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365760" y="48508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Agency Demo  |  </a:t>
            </a:r>
            <a:r>
              <a:rPr lang="en-US" sz="900" i="1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live brief to campaign video under one control plane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7315200" y="48508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16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070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storyline is stronger than a back-office demo.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365760" y="192024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73152" cy="502920"/>
          </a:xfrm>
          <a:prstGeom prst="rect">
            <a:avLst/>
          </a:prstGeom>
          <a:solidFill>
            <a:srgbClr val="5A6B8C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Agency relevance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291840" y="19202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Agency-native, not generic enterprise automation.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73152" cy="502920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plane value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3291840" y="24688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agents, long-running flows, selective HITL — the core differentiator.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73152" cy="502920"/>
          </a:xfrm>
          <a:prstGeom prst="rect">
            <a:avLst/>
          </a:prstGeom>
          <a:solidFill>
            <a:srgbClr val="5A6B8C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differentiation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3291840" y="30175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starts where people already collaborate — Teams, Word, PowerPoint.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73152" cy="502920"/>
          </a:xfrm>
          <a:prstGeom prst="rect">
            <a:avLst/>
          </a:prstGeom>
          <a:solidFill>
            <a:srgbClr val="5A6B8C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Visible outcome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3291840" y="35661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Campaign video is an immediate, high-impact "wow" moment.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73152" cy="502920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40080" y="4114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EA5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scale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3291840" y="41148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Zoom out: the same control plane supervises hundreds of briefs simultaneously.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365760" y="48508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Agency Demo  |  </a:t>
            </a:r>
            <a:r>
              <a:rPr lang="en-US" sz="900" i="1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live brief to campaign video under one control plane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7315200" y="48508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16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F29">
              <a:alpha val="45000"/>
            </a:srgbClr>
          </a:solidFill>
          <a:ln w="12700">
            <a:solidFill>
              <a:srgbClr val="060F2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TALK TRACK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governed creative operating model — at scale.</a:t>
            </a:r>
            <a:endParaRPr lang="en-US" sz="280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2468880"/>
          </a:xfrm>
          <a:prstGeom prst="rect">
            <a:avLst/>
          </a:prstGeom>
          <a:solidFill>
            <a:srgbClr val="060F29"/>
          </a:solidFill>
          <a:ln w="12700">
            <a:solidFill>
              <a:srgbClr val="00D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73152" cy="2468880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7955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i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"The demo starts where real agency work starts: in the briefing. A client and agency team meet in Teams, and an AI facilitator helps structure the brief in real time. Once approved, that brief triggers a fleet of specialised agents that enrich insight, generate concepts, build a script and storyboard, and produce a first-cut campaign video. </a:t>
            </a:r>
            <a:r>
              <a:rPr lang="en-US" sz="1400" b="1" i="1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Control Plane supervises the entire workflow — monitoring status, enforcing policy, routing tasks, and escalating only when human judgement is needed. </a:t>
            </a:r>
            <a:r>
              <a:rPr lang="en-US" sz="1400" i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result is not just faster content creation; it is a governed creative operating model at scale."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>
                <a:solidFill>
                  <a:srgbClr val="00D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57200" y="4617720"/>
            <a:ext cx="2852928" cy="347472"/>
          </a:xfrm>
          <a:prstGeom prst="rect">
            <a:avLst/>
          </a:prstGeom>
          <a:solidFill>
            <a:srgbClr val="0A1F44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Slide-by-slide script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3447288" y="4617720"/>
            <a:ext cx="3182112" cy="347472"/>
          </a:xfrm>
          <a:prstGeom prst="rect">
            <a:avLst/>
          </a:prstGeom>
          <a:solidFill>
            <a:srgbClr val="0A1F44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447288" y="461772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environment wire-up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6766560" y="4617720"/>
            <a:ext cx="2304288" cy="347472"/>
          </a:xfrm>
          <a:prstGeom prst="rect">
            <a:avLst/>
          </a:prstGeom>
          <a:solidFill>
            <a:srgbClr val="0A1F44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766560" y="461772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Dry-run with Agency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9208008" y="4617720"/>
            <a:ext cx="2633472" cy="347472"/>
          </a:xfrm>
          <a:prstGeom prst="rect">
            <a:avLst/>
          </a:prstGeom>
          <a:solidFill>
            <a:srgbClr val="0A1F44"/>
          </a:solidFill>
          <a:ln w="12700">
            <a:solidFill>
              <a:srgbClr val="00D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9208008" y="461772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RFP narrative brief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F5D26-B4E9-532E-1F12-0479B521ED87}"/>
              </a:ext>
            </a:extLst>
          </p:cNvPr>
          <p:cNvSpPr txBox="1"/>
          <p:nvPr/>
        </p:nvSpPr>
        <p:spPr>
          <a:xfrm>
            <a:off x="2954191" y="1648420"/>
            <a:ext cx="306846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/>
              <a:t>Work In Progress</a:t>
            </a:r>
          </a:p>
          <a:p>
            <a:pPr algn="ctr"/>
            <a:endParaRPr lang="en-GB" sz="3200" b="1"/>
          </a:p>
          <a:p>
            <a:pPr algn="ctr"/>
            <a:r>
              <a:rPr lang="en-GB" sz="3200" b="1"/>
              <a:t>Wireframes</a:t>
            </a:r>
          </a:p>
        </p:txBody>
      </p:sp>
    </p:spTree>
    <p:extLst>
      <p:ext uri="{BB962C8B-B14F-4D97-AF65-F5344CB8AC3E}">
        <p14:creationId xmlns:p14="http://schemas.microsoft.com/office/powerpoint/2010/main" val="3908027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365760" cy="54864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8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AI AGENCY DEMO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Wireframes</a:t>
            </a:r>
            <a:endParaRPr kumimoji="0" lang="en-US" sz="6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 live client briefing to AI-generated campaign video — under one control plane.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3200400"/>
            <a:ext cx="1828800" cy="914400"/>
          </a:xfrm>
          <a:prstGeom prst="rect">
            <a:avLst/>
          </a:prstGeom>
          <a:solidFill>
            <a:srgbClr val="1A2737"/>
          </a:solidFill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3200400"/>
            <a:ext cx="54864" cy="9144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3703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creative stages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377440" y="3200400"/>
            <a:ext cx="1828800" cy="914400"/>
          </a:xfrm>
          <a:prstGeom prst="rect">
            <a:avLst/>
          </a:prstGeom>
          <a:solidFill>
            <a:srgbClr val="1A2737"/>
          </a:solidFill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377440" y="3200400"/>
            <a:ext cx="54864" cy="9144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51460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14600" y="3703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specialist agents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89120" y="3200400"/>
            <a:ext cx="1828800" cy="914400"/>
          </a:xfrm>
          <a:prstGeom prst="rect">
            <a:avLst/>
          </a:prstGeom>
          <a:solidFill>
            <a:srgbClr val="1A2737"/>
          </a:solidFill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89120" y="3200400"/>
            <a:ext cx="54864" cy="9144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2628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26280" y="3703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human gates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6576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C6B8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v0.1  ·  Drop alongside the AI-Agency-Demo-Storyboard.pptx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65760" y="4937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5C6B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Bastien Vitrolles  ·  Microsoft France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HOW TO READ THESE WIREFRAMES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rails. One control plane through the whole demo.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2120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LEFT RAIL — WORKING SURFACE (60%)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Word, Teams, Storyboard, asset preview, video player.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human-facing canvas.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868680" cy="1005840"/>
          </a:xfrm>
          <a:prstGeom prst="rect">
            <a:avLst/>
          </a:prstGeom>
          <a:solidFill>
            <a:srgbClr val="EEF1F5"/>
          </a:solidFill>
          <a:ln w="6350">
            <a:solidFill>
              <a:srgbClr val="C7CDD4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463040" y="2926080"/>
            <a:ext cx="868680" cy="1005840"/>
          </a:xfrm>
          <a:prstGeom prst="rect">
            <a:avLst/>
          </a:prstGeom>
          <a:solidFill>
            <a:srgbClr val="EEF1F5"/>
          </a:solidFill>
          <a:ln w="6350">
            <a:solidFill>
              <a:srgbClr val="C7CDD4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23160" y="2926080"/>
            <a:ext cx="868680" cy="1005840"/>
          </a:xfrm>
          <a:prstGeom prst="rect">
            <a:avLst/>
          </a:prstGeom>
          <a:solidFill>
            <a:srgbClr val="EEF1F5"/>
          </a:solidFill>
          <a:ln w="6350">
            <a:solidFill>
              <a:srgbClr val="C7CDD4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11880" y="1508760"/>
            <a:ext cx="0" cy="2468880"/>
          </a:xfrm>
          <a:prstGeom prst="line">
            <a:avLst/>
          </a:prstGeom>
          <a:noFill/>
          <a:ln w="6350">
            <a:solidFill>
              <a:srgbClr val="C7CDD4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03320" y="1508760"/>
            <a:ext cx="1737360" cy="2468880"/>
          </a:xfrm>
          <a:prstGeom prst="rect">
            <a:avLst/>
          </a:prstGeom>
          <a:solidFill>
            <a:srgbClr val="0F1A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703320" y="1508760"/>
            <a:ext cx="1280160" cy="2286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749040" y="1508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PLANE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94760" y="187452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state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Autonomy dial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Policy pack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HITL gate status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Active agents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Audit counter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76072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40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LEGEND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760720" y="1783080"/>
            <a:ext cx="164592" cy="164592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350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 step (auto)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760720" y="2194560"/>
            <a:ext cx="164592" cy="164592"/>
          </a:xfrm>
          <a:prstGeom prst="ellipse">
            <a:avLst/>
          </a:prstGeom>
          <a:solidFill>
            <a:srgbClr val="D08A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3504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 running / pending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760720" y="260604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03504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Human gate (HITL)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760720" y="3017520"/>
            <a:ext cx="164592" cy="164592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03504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state / log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760720" y="3246120"/>
            <a:ext cx="3017520" cy="868680"/>
          </a:xfrm>
          <a:prstGeom prst="rect">
            <a:avLst/>
          </a:prstGeom>
          <a:solidFill>
            <a:srgbClr val="EEF1F5"/>
          </a:solidFill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897880" y="32918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AUTONOMY RAMP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897880" y="3566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LOW (brief) → MEDIUM (concept) → HIGH (assets) → LOW (activation)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 11 frames keep this two-rail structure. Only the right-rail state changes.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STORYBOARD MAP  ·  YOU-ARE-HERE REFERENCE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 stages · 20+ specialist agents · 4 human gates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43484" y="2674620"/>
            <a:ext cx="8257032" cy="0"/>
          </a:xfrm>
          <a:prstGeom prst="line">
            <a:avLst/>
          </a:prstGeom>
          <a:noFill/>
          <a:ln w="1270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43484" y="2286000"/>
            <a:ext cx="8686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3484" y="2286000"/>
            <a:ext cx="868680" cy="164592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43484" y="228600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3484" y="2487168"/>
            <a:ext cx="868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67028" y="2286000"/>
            <a:ext cx="8686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367028" y="2286000"/>
            <a:ext cx="868680" cy="164592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67028" y="228600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67028" y="2487168"/>
            <a:ext cx="868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290572" y="2286000"/>
            <a:ext cx="8686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290572" y="2286000"/>
            <a:ext cx="868680" cy="164592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290572" y="228600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290572" y="2487168"/>
            <a:ext cx="868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14116" y="2286000"/>
            <a:ext cx="8686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14116" y="2286000"/>
            <a:ext cx="868680" cy="164592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14116" y="228600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14116" y="2487168"/>
            <a:ext cx="868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Story-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137660" y="2286000"/>
            <a:ext cx="8686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137660" y="2286000"/>
            <a:ext cx="868680" cy="164592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137660" y="228600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137660" y="2487168"/>
            <a:ext cx="868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Asset gen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61204" y="2286000"/>
            <a:ext cx="8686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61204" y="2286000"/>
            <a:ext cx="868680" cy="164592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61204" y="228600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061204" y="2487168"/>
            <a:ext cx="868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84748" y="2286000"/>
            <a:ext cx="8686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984748" y="2286000"/>
            <a:ext cx="868680" cy="164592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984748" y="228600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984748" y="2487168"/>
            <a:ext cx="868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908292" y="2286000"/>
            <a:ext cx="8686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908292" y="2286000"/>
            <a:ext cx="868680" cy="164592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908292" y="228600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908292" y="2487168"/>
            <a:ext cx="868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Brand QA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831836" y="2286000"/>
            <a:ext cx="8686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831836" y="2286000"/>
            <a:ext cx="868680" cy="164592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831836" y="228600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831836" y="2487168"/>
            <a:ext cx="868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12064" y="1417320"/>
            <a:ext cx="731520" cy="64008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12064" y="14173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77824" y="2057400"/>
            <a:ext cx="0" cy="22860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2359152" y="1417320"/>
            <a:ext cx="731520" cy="64008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359152" y="14173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724912" y="2057400"/>
            <a:ext cx="0" cy="22860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129784" y="1417320"/>
            <a:ext cx="731520" cy="64008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129784" y="14173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5495544" y="2057400"/>
            <a:ext cx="0" cy="22860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900416" y="1417320"/>
            <a:ext cx="731520" cy="64008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900416" y="14173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8266176" y="2057400"/>
            <a:ext cx="0" cy="22860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43484" y="3639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AUTONOMY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43484" y="3977640"/>
            <a:ext cx="1798320" cy="292608"/>
          </a:xfrm>
          <a:prstGeom prst="rect">
            <a:avLst/>
          </a:prstGeom>
          <a:solidFill>
            <a:srgbClr val="B3C5D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43484" y="3977640"/>
            <a:ext cx="179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2278380" y="3977640"/>
            <a:ext cx="1798320" cy="292608"/>
          </a:xfrm>
          <a:prstGeom prst="rect">
            <a:avLst/>
          </a:prstGeom>
          <a:solidFill>
            <a:srgbClr val="718AA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2278380" y="3977640"/>
            <a:ext cx="179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4113276" y="3977640"/>
            <a:ext cx="2715768" cy="292608"/>
          </a:xfrm>
          <a:prstGeom prst="rect">
            <a:avLst/>
          </a:prstGeom>
          <a:solidFill>
            <a:srgbClr val="365D8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4113276" y="3977640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865620" y="3977640"/>
            <a:ext cx="1798320" cy="292608"/>
          </a:xfrm>
          <a:prstGeom prst="rect">
            <a:avLst/>
          </a:prstGeom>
          <a:solidFill>
            <a:srgbClr val="B3C5D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6865620" y="3977640"/>
            <a:ext cx="179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365760" y="47091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This map appears in the demo as a single "hero moment" slide before the live walkthrough.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AI AGENCY DEMO  ·  WIREFRAMES v0.1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98080" y="45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Frame 01 / 11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Title screen — set the stage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352044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365760" cy="54864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6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AI AGENCY DEMO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 live brief to campaign video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1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under one control plane.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2103120" cy="457200"/>
          </a:xfrm>
          <a:prstGeom prst="rect">
            <a:avLst/>
          </a:prstGeom>
          <a:solidFill>
            <a:srgbClr val="1A2737"/>
          </a:solidFill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9 creative stages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926080" y="3291840"/>
            <a:ext cx="2103120" cy="457200"/>
          </a:xfrm>
          <a:prstGeom prst="rect">
            <a:avLst/>
          </a:prstGeom>
          <a:solidFill>
            <a:srgbClr val="1A2737"/>
          </a:solidFill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92608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20+ specialist agents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212080" y="3291840"/>
            <a:ext cx="2103120" cy="457200"/>
          </a:xfrm>
          <a:prstGeom prst="rect">
            <a:avLst/>
          </a:prstGeom>
          <a:solidFill>
            <a:srgbClr val="1A2737"/>
          </a:solidFill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21208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4 human gates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766560" y="4023360"/>
            <a:ext cx="2011680" cy="4572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6656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▶  Start live demo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5760" y="4709160"/>
            <a:ext cx="841248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760" y="4773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DEMO BEAT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63040" y="4773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 on this. Don't narrate yet — let the chips do the work.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AI AGENCY DEMO  ·  WIREFRAMES v0.1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98080" y="45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Frame 02 / 11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Hero moment — the mental model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755648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5720" cy="914400"/>
          </a:xfrm>
          <a:prstGeom prst="rect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 Brief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• specialist agents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• guardrails apply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194560" y="1188720"/>
            <a:ext cx="1755648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194560" y="1188720"/>
            <a:ext cx="45720" cy="914400"/>
          </a:xfrm>
          <a:prstGeom prst="rect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331720" y="126187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 Strategy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331720" y="160020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• specialist agents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331720" y="17830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• guardrails apply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023360" y="1188720"/>
            <a:ext cx="1755648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023360" y="1188720"/>
            <a:ext cx="45720" cy="914400"/>
          </a:xfrm>
          <a:prstGeom prst="rect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60520" y="126187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 Concept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60520" y="160020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• specialist agents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60520" y="17830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• guardrails apply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65760" y="2176272"/>
            <a:ext cx="1755648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5760" y="2176272"/>
            <a:ext cx="45720" cy="914400"/>
          </a:xfrm>
          <a:prstGeom prst="rect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2920" y="224942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 Storyboard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2920" y="258775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• specialist agents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2920" y="277063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• guardrails apply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194560" y="2176272"/>
            <a:ext cx="1755648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194560" y="2176272"/>
            <a:ext cx="45720" cy="914400"/>
          </a:xfrm>
          <a:prstGeom prst="rect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331720" y="224942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 Assets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331720" y="258775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• specialist agents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331720" y="277063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• guardrails apply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023360" y="2176272"/>
            <a:ext cx="1755648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023360" y="2176272"/>
            <a:ext cx="45720" cy="914400"/>
          </a:xfrm>
          <a:prstGeom prst="rect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160520" y="224942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 Video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160520" y="258775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• specialist agents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160520" y="277063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• guardrails apply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65760" y="3163824"/>
            <a:ext cx="1755648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65760" y="3163824"/>
            <a:ext cx="45720" cy="914400"/>
          </a:xfrm>
          <a:prstGeom prst="rect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02920" y="323697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07 Media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02920" y="35753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• specialist agents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02920" y="375818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• guardrails apply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194560" y="3163824"/>
            <a:ext cx="1755648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2194560" y="3163824"/>
            <a:ext cx="45720" cy="914400"/>
          </a:xfrm>
          <a:prstGeom prst="rect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331720" y="323697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08 Brand QA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331720" y="35753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• specialist agents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331720" y="375818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• guardrails apply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023360" y="3163824"/>
            <a:ext cx="1755648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023360" y="3163824"/>
            <a:ext cx="45720" cy="914400"/>
          </a:xfrm>
          <a:prstGeom prst="rect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160520" y="323697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09 Launch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160520" y="35753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• specialist agents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160520" y="375818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• guardrails apply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618488" y="1261872"/>
            <a:ext cx="411480" cy="29260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618488" y="126187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276088" y="1261872"/>
            <a:ext cx="411480" cy="29260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276088" y="126187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276088" y="2249424"/>
            <a:ext cx="411480" cy="29260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276088" y="224942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276088" y="3236976"/>
            <a:ext cx="411480" cy="29260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276088" y="323697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126480" y="1188720"/>
            <a:ext cx="2651760" cy="3520440"/>
          </a:xfrm>
          <a:prstGeom prst="rect">
            <a:avLst/>
          </a:prstGeom>
          <a:solidFill>
            <a:srgbClr val="0F1A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6126480" y="1188720"/>
            <a:ext cx="1097280" cy="2743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217920" y="1188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LEGEND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309360" y="1691640"/>
            <a:ext cx="137160" cy="137160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53796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stage executed by AI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6309360" y="2057400"/>
            <a:ext cx="137160" cy="137160"/>
          </a:xfrm>
          <a:prstGeom prst="ellipse">
            <a:avLst/>
          </a:prstGeom>
          <a:solidFill>
            <a:srgbClr val="D08A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653796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 in flight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6309360" y="2423160"/>
            <a:ext cx="137160" cy="13716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653796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6309360" y="2788920"/>
            <a:ext cx="137160" cy="137160"/>
          </a:xfrm>
          <a:prstGeom prst="ellipse">
            <a:avLst/>
          </a:prstGeom>
          <a:solidFill>
            <a:srgbClr val="E8ECF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653796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log / state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6309360" y="3337560"/>
            <a:ext cx="246888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6309360" y="34747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Reuse this single map throughout the demo as the "you-are-here" reference.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365760" y="4709160"/>
            <a:ext cx="841248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365760" y="4773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DEMO BEAT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1463040" y="4773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Show before clicking Start. Reference back to it whenever the audience loses the thread.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AI AGENCY DEMO  ·  WIREFRAMES v0.1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98080" y="45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Frame 03 / 11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Stage 01 — Live brief capture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21208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372868" cy="27432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2189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WORD · BRIEF.DOCX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Client Brief — JP2026 Spring Campaign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484632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3736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Gen-Z, FR + DE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22128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Tone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737360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bold, optimistic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2505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Channels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737360" y="25054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TikTok, OOH, CTV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27980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KPI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37360" y="27980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+15% awareness, +8% intent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3090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Budget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737360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€4.2M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64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Go-live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73736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 Jun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3794760"/>
            <a:ext cx="4846320" cy="731520"/>
          </a:xfrm>
          <a:prstGeom prst="rect">
            <a:avLst/>
          </a:prstGeom>
          <a:solidFill>
            <a:srgbClr val="FFF8E1"/>
          </a:solidFill>
          <a:ln w="6350">
            <a:solidFill>
              <a:srgbClr val="D08A2C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38404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▮ live cursor:  "...sustainable luxury, regenerative production..."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760720" y="1097280"/>
            <a:ext cx="3017520" cy="3520440"/>
          </a:xfrm>
          <a:prstGeom prst="rect">
            <a:avLst/>
          </a:prstGeom>
          <a:solidFill>
            <a:srgbClr val="0F1A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760720" y="1097280"/>
            <a:ext cx="1737360" cy="2743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852160" y="1097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PLANE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943600" y="1508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49440" y="15087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2C8A6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STARTED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943600" y="1728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949440" y="1728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01 / 09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943600" y="19476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Phase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949440" y="19476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Brief Capture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943600" y="2212848"/>
            <a:ext cx="265176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943600" y="2331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Autonomy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949440" y="23317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943600" y="25511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949440" y="25511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Agency-std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943600" y="27706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HITL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949440" y="27706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ARMED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943600" y="3035808"/>
            <a:ext cx="265176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943600" y="31546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ACTIVE AGENTS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961888" y="3429000"/>
            <a:ext cx="73152" cy="73152"/>
          </a:xfrm>
          <a:prstGeom prst="ellipse">
            <a:avLst/>
          </a:prstGeom>
          <a:solidFill>
            <a:srgbClr val="D08A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108192" y="33558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Brief Agent — listening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961888" y="3630168"/>
            <a:ext cx="73152" cy="73152"/>
          </a:xfrm>
          <a:prstGeom prst="ellipse">
            <a:avLst/>
          </a:prstGeom>
          <a:solidFill>
            <a:srgbClr val="D08A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108192" y="355701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Compliance — pre-check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961888" y="3831336"/>
            <a:ext cx="73152" cy="73152"/>
          </a:xfrm>
          <a:prstGeom prst="ellipse">
            <a:avLst/>
          </a:prstGeom>
          <a:solidFill>
            <a:srgbClr val="8A95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108192" y="37581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Brand voice — standby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943600" y="4005072"/>
            <a:ext cx="265176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943600" y="41239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AUDIT  ·  ev. 12 logged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65760" y="4709160"/>
            <a:ext cx="841248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365760" y="4773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DEMO BEAT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463040" y="4773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Show Word brief and control plane updating token-by-token. All edits logged.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AI AGENCY DEMO  ·  WIREFRAMES v0.1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98080" y="45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Frame 04 / 11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Gate ◆1 — Brief approval (HITL)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21208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3360420" cy="27432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3177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GATE 1  ·  BRIEF APPROVAL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BRIEF READY FOR APPROVAL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4846320" cy="1554480"/>
          </a:xfrm>
          <a:prstGeom prst="rect">
            <a:avLst/>
          </a:prstGeom>
          <a:solidFill>
            <a:srgbClr val="FDECEC"/>
          </a:solidFill>
          <a:ln w="6350">
            <a:solidFill>
              <a:srgbClr val="F9616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54864" cy="155448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011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>
                <a:ln>
                  <a:noFill/>
                </a:ln>
                <a:solidFill>
                  <a:srgbClr val="C7484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DETECTED RISKS  ·  Compliance Agent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23317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EU green-claims directive — wording "100% sustainable" needs caveat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Audience overlap with active Q1 campaign — re-target window suggested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2801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✎  Edit brief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965960" y="3749040"/>
            <a:ext cx="14630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965960" y="3749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✕  Reject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566160" y="3749040"/>
            <a:ext cx="1828800" cy="41148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56616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 Approve &amp; dispatch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760720" y="1097280"/>
            <a:ext cx="3017520" cy="3520440"/>
          </a:xfrm>
          <a:prstGeom prst="rect">
            <a:avLst/>
          </a:prstGeom>
          <a:solidFill>
            <a:srgbClr val="0F1A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760720" y="1097280"/>
            <a:ext cx="1737360" cy="2743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852160" y="1097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PLANE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943600" y="1508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Gate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949440" y="15087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1 / 4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43600" y="1728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Phase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49440" y="1728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Brief approval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943600" y="1993392"/>
            <a:ext cx="265176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943600" y="21122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961888" y="2386584"/>
            <a:ext cx="73152" cy="7315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108192" y="23134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Lead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943600" y="2560320"/>
            <a:ext cx="265176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943600" y="26791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Time-out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949440" y="26791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24 h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943600" y="28986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949440" y="28986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CCO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943600" y="31181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Autonomy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949440" y="31181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D08A2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→ MEDIUM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943600" y="3383280"/>
            <a:ext cx="265176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943600" y="3502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ON APPROVE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961888" y="3776472"/>
            <a:ext cx="73152" cy="73152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108192" y="37033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 Agent dispatched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961888" y="3977640"/>
            <a:ext cx="73152" cy="73152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108192" y="39044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Insight Agent dispatched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943600" y="41056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AUDIT  ·  ev. 47 logged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65760" y="4709160"/>
            <a:ext cx="841248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65760" y="4773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DEMO BEAT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463040" y="4773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Human clicks Approve. Autonomy dial moves LOW → MEDIUM. Audit ticks visibly.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AI AGENCY DEMO  ·  WIREFRAMES v0.1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98080" y="45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Frame 05 / 11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Stages 02–03 — Strategy &amp; concept fan-out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21208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1879092" cy="27432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6962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 ROOM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164592" cy="164592"/>
          </a:xfrm>
          <a:prstGeom prst="ellipse">
            <a:avLst/>
          </a:prstGeom>
          <a:solidFill>
            <a:srgbClr val="D08A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1463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Insight Agent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33172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▸  Gen-Z trust gap on luxury claims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164592" cy="164592"/>
          </a:xfrm>
          <a:prstGeom prst="ellipse">
            <a:avLst/>
          </a:prstGeom>
          <a:solidFill>
            <a:srgbClr val="D08A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Trend Agent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33172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▸  TikTok + Pinterest signal: regenerative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2240280"/>
            <a:ext cx="164592" cy="164592"/>
          </a:xfrm>
          <a:prstGeom prst="ellipse">
            <a:avLst/>
          </a:prstGeom>
          <a:solidFill>
            <a:srgbClr val="D08A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 Agent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331720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▸  3 personas drafted (FR / DE / hybrid)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484632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2834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CONCEPT ROUTES  ·  3 generated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1508760" cy="1188720"/>
          </a:xfrm>
          <a:prstGeom prst="rect">
            <a:avLst/>
          </a:prstGeom>
          <a:solidFill>
            <a:srgbClr val="EEF1F5"/>
          </a:solidFill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3154680"/>
            <a:ext cx="1508760" cy="292608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3154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Route A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" y="3474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Roots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fit  0.91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" y="4069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heritage + craft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176272" y="3154680"/>
            <a:ext cx="1508760" cy="1188720"/>
          </a:xfrm>
          <a:prstGeom prst="rect">
            <a:avLst/>
          </a:prstGeom>
          <a:solidFill>
            <a:srgbClr val="EEF1F5"/>
          </a:solidFill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176272" y="3154680"/>
            <a:ext cx="1508760" cy="292608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176272" y="3154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Route B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176272" y="3474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176272" y="38404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fit  0.88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267712" y="4069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social-first energy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803904" y="3154680"/>
            <a:ext cx="1508760" cy="1188720"/>
          </a:xfrm>
          <a:prstGeom prst="rect">
            <a:avLst/>
          </a:prstGeom>
          <a:solidFill>
            <a:srgbClr val="EEF1F5"/>
          </a:solidFill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803904" y="3154680"/>
            <a:ext cx="1508760" cy="292608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803904" y="3154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Route C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803904" y="3474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Dare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803904" y="38404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fit  0.74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895344" y="4069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provocative, flagged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760720" y="1097280"/>
            <a:ext cx="3017520" cy="3520440"/>
          </a:xfrm>
          <a:prstGeom prst="rect">
            <a:avLst/>
          </a:prstGeom>
          <a:solidFill>
            <a:srgbClr val="0F1A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760720" y="1097280"/>
            <a:ext cx="1737360" cy="2743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852160" y="1097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PLANE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943600" y="1508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949440" y="15087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03 / 09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943600" y="1728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Phase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949440" y="1728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Concept dev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943600" y="19476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Autonomy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949440" y="19476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D08A2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943600" y="2212848"/>
            <a:ext cx="265176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943600" y="23317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ACTIVE AGENTS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961888" y="2606040"/>
            <a:ext cx="73152" cy="73152"/>
          </a:xfrm>
          <a:prstGeom prst="ellipse">
            <a:avLst/>
          </a:prstGeom>
          <a:solidFill>
            <a:srgbClr val="D08A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108192" y="25328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Insight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961888" y="2807208"/>
            <a:ext cx="73152" cy="73152"/>
          </a:xfrm>
          <a:prstGeom prst="ellipse">
            <a:avLst/>
          </a:prstGeom>
          <a:solidFill>
            <a:srgbClr val="D08A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108192" y="273405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Trend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961888" y="3008376"/>
            <a:ext cx="73152" cy="73152"/>
          </a:xfrm>
          <a:prstGeom prst="ellipse">
            <a:avLst/>
          </a:prstGeom>
          <a:solidFill>
            <a:srgbClr val="D08A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108192" y="29352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961888" y="3209544"/>
            <a:ext cx="73152" cy="73152"/>
          </a:xfrm>
          <a:prstGeom prst="ellipse">
            <a:avLst/>
          </a:prstGeom>
          <a:solidFill>
            <a:srgbClr val="D08A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108192" y="31363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Concept × 3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961888" y="3410712"/>
            <a:ext cx="73152" cy="73152"/>
          </a:xfrm>
          <a:prstGeom prst="ellipse">
            <a:avLst/>
          </a:prstGeom>
          <a:solidFill>
            <a:srgbClr val="D08A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6108192" y="33375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Brand voice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5943600" y="3584448"/>
            <a:ext cx="265176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5943600" y="37033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AUDIT  ·  ev. 142 logged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365760" y="4709160"/>
            <a:ext cx="841248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365760" y="4773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DEMO BEAT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463040" y="4773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fan-out, visible. Three concept cards land in parallel — fast, but legible.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AI AGENCY DEMO  ·  WIREFRAMES v0.1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98080" y="45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Frame 06 / 11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Gate ◆2 — Concept selection (HITL)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21208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3730752" cy="27432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GATE 2  ·  CONCEPT SELECTION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CHOOSE A CREATIVE ROUTE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Strategy Agent recommends Route B  ·  highest audience resonance, brand-fit 0.88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" y="2468880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5156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Route A — Roots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8328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brand-fit 0.91  ·  heritage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2898648"/>
            <a:ext cx="4846320" cy="502920"/>
          </a:xfrm>
          <a:prstGeom prst="rect">
            <a:avLst/>
          </a:prstGeom>
          <a:solidFill>
            <a:srgbClr val="FDECEC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5800" y="3035808"/>
            <a:ext cx="228600" cy="2286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51560" y="2898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Route B — Pulse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83280" y="28986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brand-fit 0.88  ·  TOP audience resonance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465576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5800" y="3602736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51560" y="34655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Route C — Dare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83280" y="34655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brand-fit 0.74  ·  ⚠ compliance flag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12801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✎  Refine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965960" y="4206240"/>
            <a:ext cx="1828800" cy="3657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96596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 Lock Route B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760720" y="1097280"/>
            <a:ext cx="3017520" cy="3520440"/>
          </a:xfrm>
          <a:prstGeom prst="rect">
            <a:avLst/>
          </a:prstGeom>
          <a:solidFill>
            <a:srgbClr val="0F1A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760720" y="1097280"/>
            <a:ext cx="1737360" cy="2743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852160" y="1097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PLANE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943600" y="1508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Gate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949440" y="15087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2 / 4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943600" y="1728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Phase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949440" y="1728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Concept select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943600" y="1993392"/>
            <a:ext cx="265176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943600" y="21122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961888" y="2386584"/>
            <a:ext cx="73152" cy="7315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108192" y="23134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Creative Director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943600" y="2560320"/>
            <a:ext cx="265176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943600" y="26791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949440" y="26791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2C8A6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Route B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943600" y="28986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949440" y="28986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 Agent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943600" y="3163824"/>
            <a:ext cx="265176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943600" y="328269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ON LOCK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961888" y="3557016"/>
            <a:ext cx="73152" cy="73152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108192" y="348386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Storyboard Agent → start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961888" y="3758184"/>
            <a:ext cx="73152" cy="73152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108192" y="36850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Asset agents → spin up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943600" y="3886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AUDIT  ·  ev. 198 logged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365760" y="4709160"/>
            <a:ext cx="841248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65760" y="4773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DEMO BEAT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463040" y="4773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Single click locks the route. Downstream agents start instantly.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AI AGENCY DEMO  ·  WIREFRAMES v0.1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98080" y="45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Frame 07 / 11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Stages 04–05 — Storyboard &amp; asset generation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21208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372868" cy="27432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2189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ROUTE B  ·  PULSE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STORYBOARD  ·  6 shots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731520" cy="548640"/>
          </a:xfrm>
          <a:prstGeom prst="rect">
            <a:avLst/>
          </a:prstGeom>
          <a:solidFill>
            <a:srgbClr val="EEF1F5"/>
          </a:solidFill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54864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2057400"/>
            <a:ext cx="54864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23317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344168" y="1783080"/>
            <a:ext cx="731520" cy="548640"/>
          </a:xfrm>
          <a:prstGeom prst="rect">
            <a:avLst/>
          </a:prstGeom>
          <a:solidFill>
            <a:srgbClr val="EEF1F5"/>
          </a:solidFill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435608" y="1874520"/>
            <a:ext cx="54864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435608" y="2057400"/>
            <a:ext cx="54864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44168" y="23317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139696" y="1783080"/>
            <a:ext cx="731520" cy="548640"/>
          </a:xfrm>
          <a:prstGeom prst="rect">
            <a:avLst/>
          </a:prstGeom>
          <a:solidFill>
            <a:srgbClr val="EEF1F5"/>
          </a:solidFill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231136" y="1874520"/>
            <a:ext cx="54864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31136" y="2057400"/>
            <a:ext cx="54864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139696" y="23317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935224" y="1783080"/>
            <a:ext cx="731520" cy="548640"/>
          </a:xfrm>
          <a:prstGeom prst="rect">
            <a:avLst/>
          </a:prstGeom>
          <a:solidFill>
            <a:srgbClr val="EEF1F5"/>
          </a:solidFill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026664" y="1874520"/>
            <a:ext cx="54864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026664" y="2057400"/>
            <a:ext cx="54864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935224" y="23317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30752" y="1783080"/>
            <a:ext cx="731520" cy="548640"/>
          </a:xfrm>
          <a:prstGeom prst="rect">
            <a:avLst/>
          </a:prstGeom>
          <a:solidFill>
            <a:srgbClr val="EEF1F5"/>
          </a:solidFill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822192" y="1874520"/>
            <a:ext cx="54864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822192" y="2057400"/>
            <a:ext cx="54864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730752" y="23317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26280" y="1783080"/>
            <a:ext cx="731520" cy="548640"/>
          </a:xfrm>
          <a:prstGeom prst="rect">
            <a:avLst/>
          </a:prstGeom>
          <a:solidFill>
            <a:srgbClr val="EEF1F5"/>
          </a:solidFill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617720" y="1874520"/>
            <a:ext cx="54864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617720" y="2057400"/>
            <a:ext cx="54864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26280" y="23317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8640" y="2743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ASSETS  ·  generating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48640" y="3063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Hero still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240280" y="3118104"/>
            <a:ext cx="2377440" cy="146304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240280" y="3118104"/>
            <a:ext cx="1949501" cy="146304"/>
          </a:xfrm>
          <a:prstGeom prst="rect">
            <a:avLst/>
          </a:prstGeom>
          <a:solidFill>
            <a:srgbClr val="D08A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709160" y="3063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82%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48640" y="33558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Copy — FR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240280" y="3410712"/>
            <a:ext cx="2377440" cy="146304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240280" y="3410712"/>
            <a:ext cx="2377440" cy="146304"/>
          </a:xfrm>
          <a:prstGeom prst="rect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709160" y="33558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48640" y="36484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Copy — DE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2240280" y="3703320"/>
            <a:ext cx="2377440" cy="146304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2240280" y="3703320"/>
            <a:ext cx="1426464" cy="146304"/>
          </a:xfrm>
          <a:prstGeom prst="rect">
            <a:avLst/>
          </a:prstGeom>
          <a:solidFill>
            <a:srgbClr val="D08A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709160" y="36484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60%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48640" y="39410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Sound bed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2240280" y="3995928"/>
            <a:ext cx="2377440" cy="146304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709160" y="394106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queued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5760720" y="1097280"/>
            <a:ext cx="3017520" cy="3520440"/>
          </a:xfrm>
          <a:prstGeom prst="rect">
            <a:avLst/>
          </a:prstGeom>
          <a:solidFill>
            <a:srgbClr val="0F1A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760720" y="1097280"/>
            <a:ext cx="1737360" cy="2743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852160" y="1097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PLANE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943600" y="1508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949440" y="15087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05 / 09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943600" y="1728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Phase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949440" y="1728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Asset gen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943600" y="19476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Autonomy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6949440" y="19476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2C8A6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5943600" y="2212848"/>
            <a:ext cx="265176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5943600" y="23317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TOOLING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5961888" y="2606040"/>
            <a:ext cx="73152" cy="73152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6108192" y="25328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Adobe Firefly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961888" y="2807208"/>
            <a:ext cx="73152" cy="73152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6108192" y="273405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Adobe Marketing Agt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5961888" y="3008376"/>
            <a:ext cx="73152" cy="73152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6108192" y="29352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Brand-kit RAG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5943600" y="3182112"/>
            <a:ext cx="265176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5943600" y="33009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Brand-safety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6949440" y="33009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2C8A6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5943600" y="3520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Trademark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6949440" y="3520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2C8A6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5943600" y="37398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Tone-of-voice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6949440" y="37398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2C8A6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5943600" y="39593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AUDIT  ·  ev. 614 logged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365760" y="4709160"/>
            <a:ext cx="841248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365760" y="4773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DEMO BEAT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1463040" y="4773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Adobe partner moment. Firefly + Marketing Agent visible inside the control plane.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AI AGENCY DEMO  ·  WIREFRAMES v0.1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98080" y="45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Frame 08 / 11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Stage 06 + Gate ◆3 — Video assembly &amp; sign-off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21208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1879092" cy="27432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6962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VIDEO PREVIEW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4846320" cy="1874520"/>
          </a:xfrm>
          <a:prstGeom prst="rect">
            <a:avLst/>
          </a:prstGeom>
          <a:solidFill>
            <a:srgbClr val="0F1A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0" y="2103120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7432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4480560" cy="0"/>
          </a:xfrm>
          <a:prstGeom prst="line">
            <a:avLst/>
          </a:prstGeom>
          <a:noFill/>
          <a:ln w="12700">
            <a:solidFill>
              <a:srgbClr val="8AA0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94560" y="2926080"/>
            <a:ext cx="182880" cy="1828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30906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0:12  /  0:30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Variants: 6   ·   Aspect: 9:16, 16:9, 1:1   ·   Languages: FR, DE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5087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✎  Re-cut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176272" y="3931920"/>
            <a:ext cx="15087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1E2A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176272" y="3931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↻  Re-render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803904" y="3931920"/>
            <a:ext cx="1508760" cy="411480"/>
          </a:xfrm>
          <a:prstGeom prst="rect">
            <a:avLst/>
          </a:prstGeom>
          <a:solidFill>
            <a:srgbClr val="F96167"/>
          </a:solidFill>
          <a:ln w="9525">
            <a:solidFill>
              <a:srgbClr val="F9616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803904" y="3931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 Approve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760720" y="1097280"/>
            <a:ext cx="3017520" cy="3520440"/>
          </a:xfrm>
          <a:prstGeom prst="rect">
            <a:avLst/>
          </a:prstGeom>
          <a:solidFill>
            <a:srgbClr val="0F1A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760720" y="1097280"/>
            <a:ext cx="1737360" cy="2743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852160" y="1097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PLANE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43600" y="1508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Gate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49440" y="15087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3 / 4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943600" y="1728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Phase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949440" y="1728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Asset sign-off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943600" y="1993392"/>
            <a:ext cx="265176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943600" y="21122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REVIEWERS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961888" y="2386584"/>
            <a:ext cx="73152" cy="7315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08192" y="23134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Creative Director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961888" y="2587752"/>
            <a:ext cx="73152" cy="7315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08192" y="25146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Brand Lead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961888" y="2788920"/>
            <a:ext cx="73152" cy="73152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108192" y="27157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Legal (auto)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943600" y="2962656"/>
            <a:ext cx="265176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943600" y="30815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Suggested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949440" y="30815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D08A2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2 tweaks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943600" y="33009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Variants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949440" y="33009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2C8A6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6 ready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943600" y="3566160"/>
            <a:ext cx="265176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943600" y="36850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AUDIT  ·  ev. 871 logged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65760" y="4709160"/>
            <a:ext cx="841248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65760" y="4773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DEMO BEAT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463040" y="4773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Approve in one click. Re-cut sends a delta to the agents — not a restart.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AI AGENCY DEMO  ·  WIREFRAMES v0.1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98080" y="45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Frame 09 / 11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Stages 07–08 — Media plan &amp; brand QA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21208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619756" cy="27432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2436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MEDIA PLANNER AGENT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01168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Spend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92608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Reach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023360" y="1463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CPM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1755648"/>
            <a:ext cx="484632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1168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€1.6M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926080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12.4M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02336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€4.20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2167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CTV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011680" y="2167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€1.4M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926080" y="2167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6.8M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023360" y="21671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€9.10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24597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OOH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011680" y="24597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€0.9M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926080" y="24597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22M imp.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023360" y="24597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€0.30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2752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011680" y="27523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€0.3M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926080" y="27523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023360" y="27523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3291840"/>
            <a:ext cx="4846320" cy="1005840"/>
          </a:xfrm>
          <a:prstGeom prst="rect">
            <a:avLst/>
          </a:prstGeom>
          <a:solidFill>
            <a:srgbClr val="EAF4EE"/>
          </a:solidFill>
          <a:ln w="6350">
            <a:solidFill>
              <a:srgbClr val="2C8A6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8640" y="3291840"/>
            <a:ext cx="54864" cy="1005840"/>
          </a:xfrm>
          <a:prstGeom prst="rect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31520" y="3383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>
                <a:ln>
                  <a:noFill/>
                </a:ln>
                <a:solidFill>
                  <a:srgbClr val="1F6B5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  ·  recommendation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31520" y="3657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Shift €120K  TikTok → CTV   ↗  +1.2% projected intent lift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760720" y="1097280"/>
            <a:ext cx="3017520" cy="3520440"/>
          </a:xfrm>
          <a:prstGeom prst="rect">
            <a:avLst/>
          </a:prstGeom>
          <a:solidFill>
            <a:srgbClr val="0F1A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760720" y="1097280"/>
            <a:ext cx="1737360" cy="2743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852160" y="1097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PLANE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943600" y="1508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949440" y="15087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08 / 09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943600" y="1728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Phase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949440" y="1728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Brand QA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943600" y="19476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Autonomy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949440" y="19476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2C8A6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943600" y="2212848"/>
            <a:ext cx="265176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943600" y="23317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QA AGENTS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961888" y="2606040"/>
            <a:ext cx="73152" cy="73152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108192" y="25328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Trademark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961888" y="2807208"/>
            <a:ext cx="73152" cy="73152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108192" y="273405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Tone-of-voice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961888" y="3008376"/>
            <a:ext cx="73152" cy="73152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108192" y="29352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Accessibility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961888" y="3209544"/>
            <a:ext cx="73152" cy="73152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108192" y="31363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Geo-compliance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943600" y="3383280"/>
            <a:ext cx="265176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943600" y="35021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949440" y="35021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2C8A6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ALL PASS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943600" y="37216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AUDIT  ·  ev. 1,021 logged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365760" y="4709160"/>
            <a:ext cx="841248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365760" y="4773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DEMO BEAT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463040" y="4773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Optimizer recommendation appears as soon as the table renders — never a separate screen.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AI AGENCY DEMO  ·  WIREFRAMES v0.1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98080" y="45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Frame 10 / 11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Gate ◆4 — Final sign-off &amp; activation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21208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372868" cy="27432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2189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GATE 4  ·  LAUNCH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READY TO LAUNCH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DELIVERABLES  ·  12 items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2249424"/>
            <a:ext cx="146304" cy="146304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224942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2194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 video variants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017520" y="2249424"/>
            <a:ext cx="146304" cy="146304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17520" y="224942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46120" y="2194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 still sets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2542032"/>
            <a:ext cx="146304" cy="146304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254203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240" y="24871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Media plan v1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017520" y="2542032"/>
            <a:ext cx="146304" cy="146304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017520" y="254203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46120" y="24871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2834640"/>
            <a:ext cx="146304" cy="146304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" y="28346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7240" y="27797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Brand QA dossier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017520" y="2834640"/>
            <a:ext cx="146304" cy="146304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017520" y="28346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46120" y="27797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pack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48640" y="3246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ACTIVATION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3547872"/>
            <a:ext cx="164592" cy="16459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48640" y="3547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2960" y="3547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Push to DSP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48640" y="3803904"/>
            <a:ext cx="164592" cy="16459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8640" y="38039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22960" y="38039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Push to Adobe Workfront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48640" y="4059936"/>
            <a:ext cx="164592" cy="16459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48640" y="40599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2960" y="40599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Notify client (Teams)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48640" y="4297680"/>
            <a:ext cx="4846320" cy="3657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48640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 APPROVE &amp; ACTIVATE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760720" y="1097280"/>
            <a:ext cx="3017520" cy="3520440"/>
          </a:xfrm>
          <a:prstGeom prst="rect">
            <a:avLst/>
          </a:prstGeom>
          <a:solidFill>
            <a:srgbClr val="0F1A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760720" y="1097280"/>
            <a:ext cx="1737360" cy="2743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852160" y="1097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PLANE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943600" y="1508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Gate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949440" y="15087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4 / 4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943600" y="1728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Phase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949440" y="1728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Launch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943600" y="19476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Autonomy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949440" y="19476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→ LOW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5943600" y="2212848"/>
            <a:ext cx="265176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943600" y="23317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961888" y="2606040"/>
            <a:ext cx="73152" cy="7315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108192" y="25328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CCO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5961888" y="2807208"/>
            <a:ext cx="73152" cy="7315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108192" y="273405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Client lead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5943600" y="2980944"/>
            <a:ext cx="265176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943600" y="30998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>
                <a:ln>
                  <a:noFill/>
                </a:ln>
                <a:solidFill>
                  <a:srgbClr val="8A95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ON ACTIVATE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5961888" y="3374136"/>
            <a:ext cx="73152" cy="73152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108192" y="33009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DSP push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961888" y="3575304"/>
            <a:ext cx="73152" cy="73152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108192" y="35021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Workfront push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5961888" y="3776472"/>
            <a:ext cx="73152" cy="73152"/>
          </a:xfrm>
          <a:prstGeom prst="ellipse">
            <a:avLst/>
          </a:prstGeom>
          <a:solidFill>
            <a:srgbClr val="2C8A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108192" y="37033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Teams notify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5943600" y="3950208"/>
            <a:ext cx="2651760" cy="0"/>
          </a:xfrm>
          <a:prstGeom prst="line">
            <a:avLst/>
          </a:prstGeom>
          <a:noFill/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5943600" y="40690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AUDIT  ·  1,284 ev.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365760" y="4709160"/>
            <a:ext cx="841248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365760" y="4773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DEMO BEAT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1463040" y="4773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click — three downstream systems light up. Audit logged end-to-end.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365760" cy="54864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6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FRAME 11 / 11  ·  CLOSING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 brief to campaign — in one working session.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1965960" cy="1188720"/>
          </a:xfrm>
          <a:prstGeom prst="rect">
            <a:avLst/>
          </a:prstGeom>
          <a:solidFill>
            <a:srgbClr val="1A2737"/>
          </a:solidFill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45720" cy="1188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 wks → days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 to first cut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14600" y="2194560"/>
            <a:ext cx="1965960" cy="1188720"/>
          </a:xfrm>
          <a:prstGeom prst="rect">
            <a:avLst/>
          </a:prstGeom>
          <a:solidFill>
            <a:srgbClr val="1A2737"/>
          </a:solidFill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14600" y="2194560"/>
            <a:ext cx="45720" cy="1188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651760" y="2286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fraction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5176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Of traditional cost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63440" y="2194560"/>
            <a:ext cx="1965960" cy="1188720"/>
          </a:xfrm>
          <a:prstGeom prst="rect">
            <a:avLst/>
          </a:prstGeom>
          <a:solidFill>
            <a:srgbClr val="1A2737"/>
          </a:solidFill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63440" y="2194560"/>
            <a:ext cx="45720" cy="1188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00600" y="2286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20+ agents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0060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Orchestrated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12280" y="2194560"/>
            <a:ext cx="1965960" cy="1188720"/>
          </a:xfrm>
          <a:prstGeom prst="rect">
            <a:avLst/>
          </a:prstGeom>
          <a:solidFill>
            <a:srgbClr val="1A2737"/>
          </a:solidFill>
          <a:ln w="6350">
            <a:solidFill>
              <a:srgbClr val="2A3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12280" y="2194560"/>
            <a:ext cx="45720" cy="1188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49440" y="2286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 gates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94944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Where humans matter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6576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4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BUILT 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   ·   Agent 365 control plane   ·   Adobe Firefly + Marketing Agent   ·   Azure AI Foundry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Same surface. Different brand. White-labellable.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400" normalizeH="0" baseline="0" noProof="0">
                <a:ln>
                  <a:noFill/>
                </a:ln>
                <a:solidFill>
                  <a:srgbClr val="8AA0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DESIGN NOTES  ·  CROSS-CUTTING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Seven decisions that hold the whole demo together.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5720" cy="71323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012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control plane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0120" y="16550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Same right-rail component on every frame; only state changes. The visual through-line.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114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5720" cy="71323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00600" y="1371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5780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Autonomy ramp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57800" y="16550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LOW (brief) → MEDIUM (concept) → HIGH (assets) → LOW (activation). Show the dial moving.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2103120"/>
            <a:ext cx="4114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2103120"/>
            <a:ext cx="45720" cy="71323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2920" y="2148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012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Four HITL gates, one component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60120" y="24323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Same gate UI reused. Each shows: who's required, agent recommendation, override, time-out.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63440" y="2103120"/>
            <a:ext cx="4114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63440" y="2103120"/>
            <a:ext cx="45720" cy="71323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00600" y="2148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5780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Audit counter ticks visibly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57800" y="24323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Reinforces "all edits logged". Governance message lands without a slide of its own.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65760" y="2880360"/>
            <a:ext cx="4114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65760" y="2880360"/>
            <a:ext cx="45720" cy="71323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2920" y="2926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60120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silent until it flags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60120" y="32095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Keeps the screen calm. Surfaces value at gates. Avoids alert fatigue in the demo flow.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663440" y="2880360"/>
            <a:ext cx="4114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663440" y="2880360"/>
            <a:ext cx="45720" cy="71323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00600" y="2926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257800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Adobe shown, not told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257800" y="32095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Firefly + Marketing Agent surface naturally in stages 5–6. Partner story is staged, not pitched.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65760" y="3657600"/>
            <a:ext cx="4114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65760" y="3657600"/>
            <a:ext cx="45720" cy="71323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02920" y="3703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6012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Dual-track narration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60120" y="39867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Left rail = creative/business. Right rail = governance/IT. Same demo, two audiences.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65760" y="4709160"/>
            <a:ext cx="8412480" cy="0"/>
          </a:xfrm>
          <a:prstGeom prst="line">
            <a:avLst/>
          </a:prstGeom>
          <a:noFill/>
          <a:ln w="6350">
            <a:solidFill>
              <a:srgbClr val="C7C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65760" y="4773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0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DEMO BEAT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463040" y="4773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1E2A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AI-Agency-Demo-Storyboard.pptx. Pair these wireframes with the script next.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8109DB3B5D704398E596022F046A9B" ma:contentTypeVersion="19" ma:contentTypeDescription="Create a new document." ma:contentTypeScope="" ma:versionID="b99c84918967180e72f47cbc5a4344ec">
  <xsd:schema xmlns:xsd="http://www.w3.org/2001/XMLSchema" xmlns:xs="http://www.w3.org/2001/XMLSchema" xmlns:p="http://schemas.microsoft.com/office/2006/metadata/properties" xmlns:ns1="http://schemas.microsoft.com/sharepoint/v3" xmlns:ns2="3f71b6ef-3f6f-470b-98d2-078395a3cf1e" xmlns:ns3="a1eb52fc-371a-4497-ac8b-e89b30140f15" targetNamespace="http://schemas.microsoft.com/office/2006/metadata/properties" ma:root="true" ma:fieldsID="00b10953299e7c6ac02195c1d6349ff5" ns1:_="" ns2:_="" ns3:_="">
    <xsd:import namespace="http://schemas.microsoft.com/sharepoint/v3"/>
    <xsd:import namespace="3f71b6ef-3f6f-470b-98d2-078395a3cf1e"/>
    <xsd:import namespace="a1eb52fc-371a-4497-ac8b-e89b30140f1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BillingMetadata" minOccurs="0"/>
                <xsd:element ref="ns2:MediaServiceLocation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71b6ef-3f6f-470b-98d2-078395a3cf1e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DocTags" ma:index="26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eb52fc-371a-4497-ac8b-e89b30140f15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1533db0c-7088-4f50-aec3-77f8555ff215}" ma:internalName="TaxCatchAll" ma:showField="CatchAllData" ma:web="a1eb52fc-371a-4497-ac8b-e89b30140f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f71b6ef-3f6f-470b-98d2-078395a3cf1e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  <TaxCatchAll xmlns="a1eb52fc-371a-4497-ac8b-e89b30140f15" xsi:nil="true"/>
  </documentManagement>
</p:properties>
</file>

<file path=customXml/itemProps1.xml><?xml version="1.0" encoding="utf-8"?>
<ds:datastoreItem xmlns:ds="http://schemas.openxmlformats.org/officeDocument/2006/customXml" ds:itemID="{C18A5EB5-C2E1-4B89-BC24-95C2EDADCD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072BCFC-5BE4-4E26-8535-EFCA27A1B6E5}">
  <ds:schemaRefs>
    <ds:schemaRef ds:uri="3f71b6ef-3f6f-470b-98d2-078395a3cf1e"/>
    <ds:schemaRef ds:uri="a1eb52fc-371a-4497-ac8b-e89b30140f1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F67999B-CEC1-460C-BF8B-69A8BD5110AA}">
  <ds:schemaRefs>
    <ds:schemaRef ds:uri="3f71b6ef-3f6f-470b-98d2-078395a3cf1e"/>
    <ds:schemaRef ds:uri="a1eb52fc-371a-4497-ac8b-e89b30140f1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32</Slides>
  <Notes>31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Agency Demo Storyboard</dc:title>
  <dc:subject>Control-Plane-supervised agentic creative production</dc:subject>
  <dc:creator>James MacGregor</dc:creator>
  <cp:revision>4</cp:revision>
  <dcterms:created xsi:type="dcterms:W3CDTF">2026-04-22T17:42:33Z</dcterms:created>
  <dcterms:modified xsi:type="dcterms:W3CDTF">2026-05-05T17:41:43Z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0x010100A38109DB3B5D704398E596022F046A9B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Office Theme:3</vt:lpwstr>
  </property>
  <property fmtid="{D5CDD505-2E9C-101B-9397-08002B2CF9AE}" pid="5" name="ClassificationContentMarkingFooterText">
    <vt:lpwstr>Classified as Microsoft Confidential</vt:lpwstr>
  </property>
</Properties>
</file>